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2" r:id="rId6"/>
    <p:sldId id="263" r:id="rId7"/>
    <p:sldId id="264" r:id="rId8"/>
    <p:sldId id="265" r:id="rId9"/>
    <p:sldId id="25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5" d="100"/>
          <a:sy n="75" d="100"/>
        </p:scale>
        <p:origin x="54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2451595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3570368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2283167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28FA92B-EE7A-45D6-8A02-3C0279E90ECE}"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3741636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28FA92B-EE7A-45D6-8A02-3C0279E90ECE}" type="datetimeFigureOut">
              <a:rPr lang="en-US" smtClean="0"/>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3276298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8FA92B-EE7A-45D6-8A02-3C0279E90ECE}" type="datetimeFigureOut">
              <a:rPr lang="en-US" smtClean="0"/>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2991843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8FA92B-EE7A-45D6-8A02-3C0279E90ECE}" type="datetimeFigureOut">
              <a:rPr lang="en-US" smtClean="0"/>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198096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28FA92B-EE7A-45D6-8A02-3C0279E90ECE}"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2094690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28FA92B-EE7A-45D6-8A02-3C0279E90ECE}"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3565113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4292854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8FA92B-EE7A-45D6-8A02-3C0279E90ECE}"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15D156-DB9D-40DF-BDC2-646A62EA140A}" type="slidenum">
              <a:rPr lang="en-US" smtClean="0"/>
              <a:t>‹#›</a:t>
            </a:fld>
            <a:endParaRPr lang="en-US"/>
          </a:p>
        </p:txBody>
      </p:sp>
    </p:spTree>
    <p:extLst>
      <p:ext uri="{BB962C8B-B14F-4D97-AF65-F5344CB8AC3E}">
        <p14:creationId xmlns:p14="http://schemas.microsoft.com/office/powerpoint/2010/main" val="714084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8FA92B-EE7A-45D6-8A02-3C0279E90ECE}" type="datetimeFigureOut">
              <a:rPr lang="en-US" smtClean="0"/>
              <a:t>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15D156-DB9D-40DF-BDC2-646A62EA140A}" type="slidenum">
              <a:rPr lang="en-US" smtClean="0"/>
              <a:t>‹#›</a:t>
            </a:fld>
            <a:endParaRPr lang="en-US"/>
          </a:p>
        </p:txBody>
      </p:sp>
    </p:spTree>
    <p:extLst>
      <p:ext uri="{BB962C8B-B14F-4D97-AF65-F5344CB8AC3E}">
        <p14:creationId xmlns:p14="http://schemas.microsoft.com/office/powerpoint/2010/main" val="3937682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13800" b="1" dirty="0">
                <a:solidFill>
                  <a:schemeClr val="accent6">
                    <a:lumMod val="50000"/>
                  </a:schemeClr>
                </a:solidFill>
                <a:effectLst>
                  <a:glow rad="101600">
                    <a:schemeClr val="accent6">
                      <a:satMod val="175000"/>
                      <a:alpha val="40000"/>
                    </a:schemeClr>
                  </a:glow>
                  <a:outerShdw dist="38100" dir="2700000" algn="bl">
                    <a:schemeClr val="accent5"/>
                  </a:outerShdw>
                </a:effectLst>
                <a:latin typeface="Brush Script MT" panose="03060802040406070304" pitchFamily="66" charset="0"/>
              </a:rPr>
              <a:t>User</a:t>
            </a:r>
            <a:r>
              <a:rPr lang="en-US" b="1" dirty="0">
                <a:solidFill>
                  <a:schemeClr val="accent6">
                    <a:lumMod val="50000"/>
                  </a:schemeClr>
                </a:solidFill>
                <a:effectLst>
                  <a:glow rad="228600">
                    <a:schemeClr val="accent6">
                      <a:satMod val="175000"/>
                      <a:alpha val="40000"/>
                    </a:schemeClr>
                  </a:glow>
                  <a:outerShdw dist="38100" dir="2700000" algn="bl">
                    <a:schemeClr val="accent5"/>
                  </a:outerShdw>
                </a:effectLst>
              </a:rPr>
              <a:t>  </a:t>
            </a:r>
            <a:r>
              <a:rPr lang="en-US" sz="5400" b="1" dirty="0" smtClean="0">
                <a:solidFill>
                  <a:schemeClr val="accent6">
                    <a:lumMod val="75000"/>
                  </a:schemeClr>
                </a:solidFill>
                <a:latin typeface="Algerian" panose="04020705040A02060702" pitchFamily="82" charset="0"/>
              </a:rPr>
              <a:t>Guide</a:t>
            </a:r>
            <a:endParaRPr lang="en-US" sz="5400" dirty="0">
              <a:solidFill>
                <a:schemeClr val="accent6">
                  <a:lumMod val="75000"/>
                </a:schemeClr>
              </a:solidFill>
              <a:latin typeface="Algerian" panose="04020705040A02060702" pitchFamily="82" charset="0"/>
            </a:endParaRPr>
          </a:p>
        </p:txBody>
      </p:sp>
      <p:sp>
        <p:nvSpPr>
          <p:cNvPr id="4" name="Subtitle 3"/>
          <p:cNvSpPr>
            <a:spLocks noGrp="1"/>
          </p:cNvSpPr>
          <p:nvPr>
            <p:ph type="subTitle" idx="1"/>
          </p:nvPr>
        </p:nvSpPr>
        <p:spPr/>
        <p:txBody>
          <a:bodyPr>
            <a:normAutofit/>
          </a:bodyPr>
          <a:lstStyle/>
          <a:p>
            <a:r>
              <a:rPr lang="en-US" sz="3600" dirty="0" smtClean="0">
                <a:solidFill>
                  <a:schemeClr val="tx1">
                    <a:lumMod val="95000"/>
                    <a:lumOff val="5000"/>
                  </a:schemeClr>
                </a:solidFill>
              </a:rPr>
              <a:t>NationalPark-Explorer</a:t>
            </a:r>
            <a:endParaRPr lang="en-US" sz="3600" dirty="0">
              <a:solidFill>
                <a:schemeClr val="tx1">
                  <a:lumMod val="95000"/>
                  <a:lumOff val="5000"/>
                </a:schemeClr>
              </a:solidFill>
            </a:endParaRPr>
          </a:p>
        </p:txBody>
      </p:sp>
    </p:spTree>
    <p:extLst>
      <p:ext uri="{BB962C8B-B14F-4D97-AF65-F5344CB8AC3E}">
        <p14:creationId xmlns:p14="http://schemas.microsoft.com/office/powerpoint/2010/main" val="2605282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flipH="1" flipV="1">
            <a:off x="673100" y="319406"/>
            <a:ext cx="165100" cy="45719"/>
          </a:xfrm>
        </p:spPr>
        <p:txBody>
          <a:bodyPr>
            <a:noAutofit/>
          </a:bodyPr>
          <a:lstStyle/>
          <a:p>
            <a:r>
              <a:rPr lang="en-US" sz="100" dirty="0" smtClean="0"/>
              <a:t>.</a:t>
            </a:r>
            <a:endParaRPr lang="en-US" sz="100" dirty="0"/>
          </a:p>
        </p:txBody>
      </p:sp>
      <p:sp>
        <p:nvSpPr>
          <p:cNvPr id="3" name="Content Placeholder 2"/>
          <p:cNvSpPr>
            <a:spLocks noGrp="1"/>
          </p:cNvSpPr>
          <p:nvPr>
            <p:ph idx="1"/>
          </p:nvPr>
        </p:nvSpPr>
        <p:spPr>
          <a:xfrm>
            <a:off x="838200" y="812800"/>
            <a:ext cx="10515600" cy="5364163"/>
          </a:xfrm>
        </p:spPr>
        <p:txBody>
          <a:bodyPr/>
          <a:lstStyle/>
          <a:p>
            <a:pPr marL="0" indent="0">
              <a:buNone/>
            </a:pPr>
            <a:r>
              <a:rPr lang="en-US" sz="3600" b="1" u="sng" dirty="0">
                <a:latin typeface="Agency FB" panose="020B0503020202020204" pitchFamily="34" charset="0"/>
              </a:rPr>
              <a:t>Purpose of the User </a:t>
            </a:r>
            <a:r>
              <a:rPr lang="en-US" sz="3600" b="1" u="sng" dirty="0" smtClean="0">
                <a:latin typeface="Agency FB" panose="020B0503020202020204" pitchFamily="34" charset="0"/>
              </a:rPr>
              <a:t>Guide</a:t>
            </a:r>
          </a:p>
          <a:p>
            <a:pPr marL="0" indent="0">
              <a:buNone/>
            </a:pPr>
            <a:endParaRPr lang="en-US" sz="1000" b="1" u="sng" dirty="0">
              <a:latin typeface="Agency FB" panose="020B0503020202020204" pitchFamily="34" charset="0"/>
            </a:endParaRPr>
          </a:p>
          <a:p>
            <a:pPr marL="0" indent="0">
              <a:buNone/>
            </a:pPr>
            <a:r>
              <a:rPr lang="en-US" sz="2000" dirty="0">
                <a:latin typeface="Arial Narrow" panose="020B0606020202030204" pitchFamily="34" charset="0"/>
              </a:rPr>
              <a:t>This user guide is intended to help users understand how to interact with the </a:t>
            </a:r>
            <a:r>
              <a:rPr lang="en-US" sz="2000" i="1" dirty="0">
                <a:latin typeface="Arial Narrow" panose="020B0606020202030204" pitchFamily="34" charset="0"/>
              </a:rPr>
              <a:t>National Parks of Pakistan</a:t>
            </a:r>
            <a:r>
              <a:rPr lang="en-US" sz="2000" dirty="0">
                <a:latin typeface="Arial Narrow" panose="020B0606020202030204" pitchFamily="34" charset="0"/>
              </a:rPr>
              <a:t> website and make effective use of the information provided. It explains the flow of the website, the role of each section, and how users can explore content smoothly without any technical </a:t>
            </a:r>
            <a:r>
              <a:rPr lang="en-US" sz="2000" dirty="0" smtClean="0">
                <a:latin typeface="Arial Narrow" panose="020B0606020202030204" pitchFamily="34" charset="0"/>
              </a:rPr>
              <a:t>knowledge.</a:t>
            </a:r>
          </a:p>
          <a:p>
            <a:pPr marL="0" indent="0">
              <a:buNone/>
            </a:pPr>
            <a:r>
              <a:rPr lang="en-US" sz="3600" b="1" u="sng" dirty="0" smtClean="0">
                <a:latin typeface="Agency FB" panose="020B0503020202020204" pitchFamily="34" charset="0"/>
              </a:rPr>
              <a:t>Starting the Website</a:t>
            </a:r>
          </a:p>
          <a:p>
            <a:pPr marL="0" indent="0">
              <a:buNone/>
            </a:pPr>
            <a:r>
              <a:rPr lang="en-US" sz="2000" dirty="0"/>
              <a:t>Users can access the website by opening the main </a:t>
            </a:r>
            <a:r>
              <a:rPr lang="en-US" sz="2000" dirty="0" smtClean="0"/>
              <a:t>homepage</a:t>
            </a:r>
            <a:r>
              <a:rPr lang="en-US" sz="2000" b="1" u="sng" dirty="0">
                <a:latin typeface="Agency FB" panose="020B0503020202020204" pitchFamily="34" charset="0"/>
              </a:rPr>
              <a:t> </a:t>
            </a:r>
            <a:r>
              <a:rPr lang="en-US" sz="2000" dirty="0" smtClean="0"/>
              <a:t>in </a:t>
            </a:r>
            <a:r>
              <a:rPr lang="en-US" sz="2000" dirty="0"/>
              <a:t>a modern web browser. The homepage serves as the starting point and introduces users to the theme, purpose, and main sections of the </a:t>
            </a:r>
            <a:r>
              <a:rPr lang="en-US" sz="2000" dirty="0" smtClean="0"/>
              <a:t>website. The </a:t>
            </a:r>
            <a:r>
              <a:rPr lang="en-US" sz="2000" dirty="0"/>
              <a:t>website is best viewed on a desktop or laptop for an optimal layout and image display.</a:t>
            </a:r>
          </a:p>
          <a:p>
            <a:pPr marL="0" indent="0">
              <a:buNone/>
            </a:pPr>
            <a:endParaRPr lang="en-US" sz="2000" dirty="0">
              <a:latin typeface="Arial Narrow" panose="020B0606020202030204" pitchFamily="34" charset="0"/>
            </a:endParaRPr>
          </a:p>
          <a:p>
            <a:endParaRPr lang="en-US" dirty="0"/>
          </a:p>
        </p:txBody>
      </p:sp>
    </p:spTree>
    <p:extLst>
      <p:ext uri="{BB962C8B-B14F-4D97-AF65-F5344CB8AC3E}">
        <p14:creationId xmlns:p14="http://schemas.microsoft.com/office/powerpoint/2010/main" val="1872296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flipH="1">
            <a:off x="0" y="0"/>
            <a:ext cx="45719" cy="498475"/>
          </a:xfrm>
        </p:spPr>
        <p:txBody>
          <a:bodyPr>
            <a:noAutofit/>
          </a:bodyPr>
          <a:lstStyle/>
          <a:p>
            <a:r>
              <a:rPr lang="en-US" sz="100" dirty="0" smtClean="0"/>
              <a:t>.</a:t>
            </a:r>
            <a:endParaRPr lang="en-US" sz="100" dirty="0"/>
          </a:p>
        </p:txBody>
      </p:sp>
      <p:sp>
        <p:nvSpPr>
          <p:cNvPr id="3" name="Content Placeholder 2"/>
          <p:cNvSpPr>
            <a:spLocks noGrp="1"/>
          </p:cNvSpPr>
          <p:nvPr>
            <p:ph idx="1"/>
          </p:nvPr>
        </p:nvSpPr>
        <p:spPr>
          <a:xfrm rot="10800000" flipV="1">
            <a:off x="838200" y="127000"/>
            <a:ext cx="10515600" cy="6049963"/>
          </a:xfrm>
        </p:spPr>
        <p:txBody>
          <a:bodyPr/>
          <a:lstStyle/>
          <a:p>
            <a:pPr marL="0" indent="0">
              <a:buNone/>
            </a:pPr>
            <a:r>
              <a:rPr lang="en-US" b="1" u="sng" dirty="0"/>
              <a:t>Navigation </a:t>
            </a:r>
            <a:r>
              <a:rPr lang="en-US" b="1" u="sng" dirty="0" smtClean="0"/>
              <a:t>and Layout</a:t>
            </a:r>
            <a:endParaRPr lang="en-US" b="1" u="sng" dirty="0"/>
          </a:p>
          <a:p>
            <a:pPr marL="0" indent="0">
              <a:buNone/>
            </a:pPr>
            <a:r>
              <a:rPr lang="en-US" sz="2000" dirty="0"/>
              <a:t>A navigation bar is displayed consistently at the top of the website. It allows users to move smoothly between different sections without confusion.</a:t>
            </a:r>
          </a:p>
          <a:p>
            <a:pPr marL="0" indent="0">
              <a:buNone/>
            </a:pPr>
            <a:r>
              <a:rPr lang="en-US" sz="2000" dirty="0"/>
              <a:t>The navigation menu provides access to:</a:t>
            </a:r>
          </a:p>
          <a:p>
            <a:r>
              <a:rPr lang="en-US" sz="2000" dirty="0"/>
              <a:t>Home</a:t>
            </a:r>
          </a:p>
          <a:p>
            <a:r>
              <a:rPr lang="en-US" sz="2000" dirty="0"/>
              <a:t>Parks</a:t>
            </a:r>
          </a:p>
          <a:p>
            <a:r>
              <a:rPr lang="en-US" sz="2000" dirty="0"/>
              <a:t>Events</a:t>
            </a:r>
          </a:p>
          <a:p>
            <a:r>
              <a:rPr lang="en-US" sz="2000" dirty="0"/>
              <a:t>About</a:t>
            </a:r>
          </a:p>
          <a:p>
            <a:r>
              <a:rPr lang="en-US" sz="2000" dirty="0"/>
              <a:t>Contact</a:t>
            </a:r>
          </a:p>
          <a:p>
            <a:r>
              <a:rPr lang="en-US" sz="2000" dirty="0"/>
              <a:t>Login and Signup (visible before login)</a:t>
            </a:r>
          </a:p>
          <a:p>
            <a:pPr marL="0" indent="0">
              <a:buNone/>
            </a:pPr>
            <a:r>
              <a:rPr lang="en-US" sz="2000" dirty="0"/>
              <a:t>After a successful signup or login, the Login and Signup buttons are automatically hidden, providing a more realistic user experience.</a:t>
            </a:r>
          </a:p>
          <a:p>
            <a:pPr marL="0" indent="0">
              <a:buNone/>
            </a:pPr>
            <a:endParaRPr lang="en-US" sz="2000" dirty="0"/>
          </a:p>
          <a:p>
            <a:pPr marL="0" indent="0">
              <a:buNone/>
            </a:pPr>
            <a:endParaRPr lang="en-US" dirty="0"/>
          </a:p>
        </p:txBody>
      </p:sp>
    </p:spTree>
    <p:extLst>
      <p:ext uri="{BB962C8B-B14F-4D97-AF65-F5344CB8AC3E}">
        <p14:creationId xmlns:p14="http://schemas.microsoft.com/office/powerpoint/2010/main" val="1402572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flipH="1">
            <a:off x="0" y="0"/>
            <a:ext cx="45719" cy="498475"/>
          </a:xfrm>
        </p:spPr>
        <p:txBody>
          <a:bodyPr>
            <a:noAutofit/>
          </a:bodyPr>
          <a:lstStyle/>
          <a:p>
            <a:r>
              <a:rPr lang="en-US" sz="100" dirty="0" smtClean="0"/>
              <a:t>.</a:t>
            </a:r>
            <a:endParaRPr lang="en-US" sz="100" dirty="0"/>
          </a:p>
        </p:txBody>
      </p:sp>
      <p:sp>
        <p:nvSpPr>
          <p:cNvPr id="3" name="Content Placeholder 2"/>
          <p:cNvSpPr>
            <a:spLocks noGrp="1"/>
          </p:cNvSpPr>
          <p:nvPr>
            <p:ph idx="1"/>
          </p:nvPr>
        </p:nvSpPr>
        <p:spPr>
          <a:xfrm rot="10800000" flipV="1">
            <a:off x="838200" y="127000"/>
            <a:ext cx="10515600" cy="6049963"/>
          </a:xfrm>
        </p:spPr>
        <p:txBody>
          <a:bodyPr/>
          <a:lstStyle/>
          <a:p>
            <a:pPr marL="0" indent="0">
              <a:buNone/>
            </a:pPr>
            <a:endParaRPr lang="en-US" sz="2000" dirty="0"/>
          </a:p>
          <a:p>
            <a:pPr marL="0" indent="0">
              <a:buNone/>
            </a:pPr>
            <a:r>
              <a:rPr lang="en-US" sz="3600" b="1" u="sng" dirty="0">
                <a:latin typeface="Agency FB" panose="020B0503020202020204" pitchFamily="34" charset="0"/>
              </a:rPr>
              <a:t>Homepage </a:t>
            </a:r>
            <a:r>
              <a:rPr lang="en-US" sz="3600" b="1" u="sng" dirty="0" smtClean="0">
                <a:latin typeface="Agency FB" panose="020B0503020202020204" pitchFamily="34" charset="0"/>
              </a:rPr>
              <a:t>Experience</a:t>
            </a:r>
          </a:p>
          <a:p>
            <a:pPr marL="0" indent="0">
              <a:buNone/>
            </a:pPr>
            <a:r>
              <a:rPr lang="en-US" sz="2000" dirty="0"/>
              <a:t>The homepage is designed to be visually engaging and informative. It includes:</a:t>
            </a:r>
          </a:p>
          <a:p>
            <a:r>
              <a:rPr lang="en-US" sz="2000" dirty="0"/>
              <a:t>A large image carousel showcasing scenic views of national parks</a:t>
            </a:r>
          </a:p>
          <a:p>
            <a:r>
              <a:rPr lang="en-US" sz="2000" dirty="0"/>
              <a:t>Introductory text explaining the concept of national parks</a:t>
            </a:r>
          </a:p>
          <a:p>
            <a:r>
              <a:rPr lang="en-US" sz="2000" dirty="0"/>
              <a:t>A “Top National Parks” section highlighting featured parks</a:t>
            </a:r>
          </a:p>
          <a:p>
            <a:r>
              <a:rPr lang="en-US" sz="2000" dirty="0"/>
              <a:t>A “Things to See and Do” section describing activities such as hiking, wildlife observation, and photography</a:t>
            </a:r>
          </a:p>
          <a:p>
            <a:r>
              <a:rPr lang="en-US" sz="2000" dirty="0"/>
              <a:t>A conservation section that educates users about environmental </a:t>
            </a:r>
            <a:r>
              <a:rPr lang="en-US" sz="2000" dirty="0" smtClean="0"/>
              <a:t>protection</a:t>
            </a:r>
          </a:p>
          <a:p>
            <a:pPr marL="0" indent="0">
              <a:buNone/>
            </a:pPr>
            <a:r>
              <a:rPr lang="en-US" sz="2000" dirty="0" smtClean="0"/>
              <a:t>Users </a:t>
            </a:r>
            <a:r>
              <a:rPr lang="en-US" sz="2000" dirty="0"/>
              <a:t>can scroll through the homepage to explore all content sections.</a:t>
            </a:r>
          </a:p>
          <a:p>
            <a:pPr marL="0" indent="0">
              <a:buNone/>
            </a:pPr>
            <a:endParaRPr lang="en-US" sz="2000" b="1" u="sng" dirty="0"/>
          </a:p>
        </p:txBody>
      </p:sp>
    </p:spTree>
    <p:extLst>
      <p:ext uri="{BB962C8B-B14F-4D97-AF65-F5344CB8AC3E}">
        <p14:creationId xmlns:p14="http://schemas.microsoft.com/office/powerpoint/2010/main" val="2849389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flipH="1">
            <a:off x="0" y="0"/>
            <a:ext cx="45719" cy="498475"/>
          </a:xfrm>
        </p:spPr>
        <p:txBody>
          <a:bodyPr>
            <a:noAutofit/>
          </a:bodyPr>
          <a:lstStyle/>
          <a:p>
            <a:r>
              <a:rPr lang="en-US" sz="100" dirty="0" smtClean="0"/>
              <a:t>.</a:t>
            </a:r>
            <a:endParaRPr lang="en-US" sz="100" dirty="0"/>
          </a:p>
        </p:txBody>
      </p:sp>
      <p:sp>
        <p:nvSpPr>
          <p:cNvPr id="3" name="Content Placeholder 2"/>
          <p:cNvSpPr>
            <a:spLocks noGrp="1"/>
          </p:cNvSpPr>
          <p:nvPr>
            <p:ph idx="1"/>
          </p:nvPr>
        </p:nvSpPr>
        <p:spPr>
          <a:xfrm rot="10800000" flipV="1">
            <a:off x="838200" y="127000"/>
            <a:ext cx="10515600" cy="6049963"/>
          </a:xfrm>
        </p:spPr>
        <p:txBody>
          <a:bodyPr/>
          <a:lstStyle/>
          <a:p>
            <a:pPr marL="0" indent="0">
              <a:buNone/>
            </a:pPr>
            <a:endParaRPr lang="en-US" sz="2000" dirty="0"/>
          </a:p>
          <a:p>
            <a:pPr marL="0" indent="0">
              <a:buNone/>
            </a:pPr>
            <a:r>
              <a:rPr lang="en-US" sz="3600" b="1" u="sng" dirty="0">
                <a:latin typeface="Agency FB" panose="020B0503020202020204" pitchFamily="34" charset="0"/>
              </a:rPr>
              <a:t>Exploring National </a:t>
            </a:r>
            <a:r>
              <a:rPr lang="en-US" sz="3600" b="1" u="sng" dirty="0" smtClean="0">
                <a:latin typeface="Agency FB" panose="020B0503020202020204" pitchFamily="34" charset="0"/>
              </a:rPr>
              <a:t>Parks</a:t>
            </a:r>
          </a:p>
          <a:p>
            <a:pPr marL="0" indent="0">
              <a:buNone/>
            </a:pPr>
            <a:r>
              <a:rPr lang="en-US" sz="2000" dirty="0"/>
              <a:t>By selecting the </a:t>
            </a:r>
            <a:r>
              <a:rPr lang="en-US" sz="2000" b="1" dirty="0"/>
              <a:t>Parks</a:t>
            </a:r>
            <a:r>
              <a:rPr lang="en-US" sz="2000" dirty="0"/>
              <a:t> option from the navigation bar, users can view a list of national parks presented in a structured layout.</a:t>
            </a:r>
          </a:p>
          <a:p>
            <a:r>
              <a:rPr lang="en-US" sz="2000" dirty="0"/>
              <a:t>Each park can be selected to open a dedicated park detail page, which provides:</a:t>
            </a:r>
          </a:p>
          <a:p>
            <a:r>
              <a:rPr lang="en-US" sz="2000" dirty="0"/>
              <a:t>An introduction to the park</a:t>
            </a:r>
          </a:p>
          <a:p>
            <a:r>
              <a:rPr lang="en-US" sz="2000" dirty="0"/>
              <a:t>Information about its location and significance</a:t>
            </a:r>
          </a:p>
          <a:p>
            <a:r>
              <a:rPr lang="en-US" sz="2000" dirty="0"/>
              <a:t>Descriptive content supported by images</a:t>
            </a:r>
          </a:p>
          <a:p>
            <a:pPr marL="0" indent="0">
              <a:buNone/>
            </a:pPr>
            <a:r>
              <a:rPr lang="en-US" sz="2000" dirty="0"/>
              <a:t>Users can freely move between different park pages using the navigation menu.</a:t>
            </a:r>
          </a:p>
          <a:p>
            <a:pPr marL="0" indent="0">
              <a:buNone/>
            </a:pPr>
            <a:endParaRPr lang="en-US" sz="2000" b="1" u="sng" dirty="0"/>
          </a:p>
        </p:txBody>
      </p:sp>
    </p:spTree>
    <p:extLst>
      <p:ext uri="{BB962C8B-B14F-4D97-AF65-F5344CB8AC3E}">
        <p14:creationId xmlns:p14="http://schemas.microsoft.com/office/powerpoint/2010/main" val="2426875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flipH="1">
            <a:off x="0" y="0"/>
            <a:ext cx="45719" cy="498475"/>
          </a:xfrm>
        </p:spPr>
        <p:txBody>
          <a:bodyPr>
            <a:noAutofit/>
          </a:bodyPr>
          <a:lstStyle/>
          <a:p>
            <a:r>
              <a:rPr lang="en-US" sz="100" dirty="0" smtClean="0"/>
              <a:t>.</a:t>
            </a:r>
            <a:endParaRPr lang="en-US" sz="100" dirty="0"/>
          </a:p>
        </p:txBody>
      </p:sp>
      <p:sp>
        <p:nvSpPr>
          <p:cNvPr id="3" name="Content Placeholder 2"/>
          <p:cNvSpPr>
            <a:spLocks noGrp="1"/>
          </p:cNvSpPr>
          <p:nvPr>
            <p:ph idx="1"/>
          </p:nvPr>
        </p:nvSpPr>
        <p:spPr>
          <a:xfrm rot="10800000" flipV="1">
            <a:off x="838200" y="127000"/>
            <a:ext cx="10515600" cy="6049963"/>
          </a:xfrm>
        </p:spPr>
        <p:txBody>
          <a:bodyPr/>
          <a:lstStyle/>
          <a:p>
            <a:pPr marL="0" indent="0">
              <a:buNone/>
            </a:pPr>
            <a:endParaRPr lang="en-US" sz="2000" dirty="0"/>
          </a:p>
          <a:p>
            <a:pPr marL="0" indent="0">
              <a:buNone/>
            </a:pPr>
            <a:r>
              <a:rPr lang="en-US" sz="3600" b="1" u="sng" dirty="0">
                <a:latin typeface="Agency FB" panose="020B0503020202020204" pitchFamily="34" charset="0"/>
              </a:rPr>
              <a:t>Events and Cultural </a:t>
            </a:r>
            <a:r>
              <a:rPr lang="en-US" sz="3600" b="1" u="sng" dirty="0" smtClean="0">
                <a:latin typeface="Agency FB" panose="020B0503020202020204" pitchFamily="34" charset="0"/>
              </a:rPr>
              <a:t>Information</a:t>
            </a:r>
          </a:p>
          <a:p>
            <a:pPr marL="0" indent="0">
              <a:buNone/>
            </a:pPr>
            <a:r>
              <a:rPr lang="en-US" sz="2000" dirty="0"/>
              <a:t>The </a:t>
            </a:r>
            <a:r>
              <a:rPr lang="en-US" sz="2000" b="1" dirty="0"/>
              <a:t>Events</a:t>
            </a:r>
            <a:r>
              <a:rPr lang="en-US" sz="2000" dirty="0"/>
              <a:t> section allows users to explore festivals and cultural or seasonal activities associated with national parks. This helps users understand the cultural importance of certain locations along with their natural value.</a:t>
            </a:r>
          </a:p>
          <a:p>
            <a:pPr marL="0" indent="0">
              <a:buNone/>
            </a:pPr>
            <a:r>
              <a:rPr lang="en-US" sz="3600" b="1" u="sng" dirty="0">
                <a:latin typeface="Agency FB" panose="020B0503020202020204" pitchFamily="34" charset="0"/>
              </a:rPr>
              <a:t>Signup and Login </a:t>
            </a:r>
            <a:r>
              <a:rPr lang="en-US" sz="3600" b="1" u="sng" dirty="0" smtClean="0">
                <a:latin typeface="Agency FB" panose="020B0503020202020204" pitchFamily="34" charset="0"/>
              </a:rPr>
              <a:t>Interaction</a:t>
            </a:r>
          </a:p>
          <a:p>
            <a:pPr marL="0" indent="0">
              <a:buNone/>
            </a:pPr>
            <a:r>
              <a:rPr lang="en-US" sz="2000" dirty="0"/>
              <a:t>The website includes </a:t>
            </a:r>
            <a:r>
              <a:rPr lang="en-US" sz="2000" b="1" dirty="0"/>
              <a:t>Signup and Login pages</a:t>
            </a:r>
            <a:r>
              <a:rPr lang="en-US" sz="2000" dirty="0"/>
              <a:t> to demonstrate user interaction.</a:t>
            </a:r>
          </a:p>
          <a:p>
            <a:pPr marL="0" indent="0">
              <a:buNone/>
            </a:pPr>
            <a:r>
              <a:rPr lang="en-US" sz="2400" b="1" dirty="0">
                <a:latin typeface="Agency FB" panose="020B0503020202020204" pitchFamily="34" charset="0"/>
              </a:rPr>
              <a:t>Signup Process</a:t>
            </a:r>
          </a:p>
          <a:p>
            <a:r>
              <a:rPr lang="en-US" sz="2000" dirty="0"/>
              <a:t>Users can navigate to the Signup page using the navigation bar.</a:t>
            </a:r>
          </a:p>
          <a:p>
            <a:r>
              <a:rPr lang="en-US" sz="2000" dirty="0"/>
              <a:t>The signup form allows users to enter their name, email, and password.</a:t>
            </a:r>
          </a:p>
          <a:p>
            <a:r>
              <a:rPr lang="en-US" sz="2000" dirty="0"/>
              <a:t>When the user clicks the </a:t>
            </a:r>
            <a:r>
              <a:rPr lang="en-US" sz="2000" b="1" dirty="0"/>
              <a:t>Sign Up</a:t>
            </a:r>
            <a:r>
              <a:rPr lang="en-US" sz="2000" dirty="0"/>
              <a:t> button, JavaScript creates a session using browser storage.</a:t>
            </a:r>
          </a:p>
          <a:p>
            <a:r>
              <a:rPr lang="en-US" sz="2000" dirty="0"/>
              <a:t>After signup, the user is redirected to the homepage.</a:t>
            </a:r>
          </a:p>
          <a:p>
            <a:pPr marL="0" indent="0">
              <a:buNone/>
            </a:pPr>
            <a:endParaRPr lang="en-US" sz="2000" b="1" u="sng" dirty="0"/>
          </a:p>
        </p:txBody>
      </p:sp>
    </p:spTree>
    <p:extLst>
      <p:ext uri="{BB962C8B-B14F-4D97-AF65-F5344CB8AC3E}">
        <p14:creationId xmlns:p14="http://schemas.microsoft.com/office/powerpoint/2010/main" val="609287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flipH="1">
            <a:off x="0" y="0"/>
            <a:ext cx="45719" cy="498475"/>
          </a:xfrm>
        </p:spPr>
        <p:txBody>
          <a:bodyPr>
            <a:noAutofit/>
          </a:bodyPr>
          <a:lstStyle/>
          <a:p>
            <a:r>
              <a:rPr lang="en-US" sz="100" dirty="0" smtClean="0"/>
              <a:t>.</a:t>
            </a:r>
            <a:endParaRPr lang="en-US" sz="100" dirty="0"/>
          </a:p>
        </p:txBody>
      </p:sp>
      <p:sp>
        <p:nvSpPr>
          <p:cNvPr id="3" name="Content Placeholder 2"/>
          <p:cNvSpPr>
            <a:spLocks noGrp="1"/>
          </p:cNvSpPr>
          <p:nvPr>
            <p:ph idx="1"/>
          </p:nvPr>
        </p:nvSpPr>
        <p:spPr>
          <a:xfrm rot="10800000" flipV="1">
            <a:off x="838200" y="127000"/>
            <a:ext cx="10515600" cy="6049963"/>
          </a:xfrm>
        </p:spPr>
        <p:txBody>
          <a:bodyPr/>
          <a:lstStyle/>
          <a:p>
            <a:pPr marL="0" indent="0">
              <a:buNone/>
            </a:pPr>
            <a:endParaRPr lang="en-US" sz="2000" dirty="0"/>
          </a:p>
          <a:p>
            <a:pPr marL="0" indent="0">
              <a:buNone/>
            </a:pPr>
            <a:r>
              <a:rPr lang="en-US" sz="2400" b="1" dirty="0">
                <a:latin typeface="Agency FB" panose="020B0503020202020204" pitchFamily="34" charset="0"/>
              </a:rPr>
              <a:t>Login State Behavior</a:t>
            </a:r>
          </a:p>
          <a:p>
            <a:r>
              <a:rPr lang="en-US" sz="2000" dirty="0"/>
              <a:t>Once a user is signed up or logged in, the website recognizes the session.</a:t>
            </a:r>
          </a:p>
          <a:p>
            <a:r>
              <a:rPr lang="en-US" sz="2000" dirty="0"/>
              <a:t>The </a:t>
            </a:r>
            <a:r>
              <a:rPr lang="en-US" sz="2000" b="1" dirty="0"/>
              <a:t>Login and Signup buttons are hidden automatically</a:t>
            </a:r>
            <a:r>
              <a:rPr lang="en-US" sz="2000" dirty="0"/>
              <a:t> using JavaScript.</a:t>
            </a:r>
          </a:p>
          <a:p>
            <a:r>
              <a:rPr lang="en-US" sz="2000" dirty="0"/>
              <a:t>This behavior simulates a logged-in state for the user during the browser session.</a:t>
            </a:r>
          </a:p>
          <a:p>
            <a:pPr marL="0" indent="0">
              <a:buNone/>
            </a:pPr>
            <a:r>
              <a:rPr lang="en-US" sz="2000" dirty="0"/>
              <a:t>Note: This functionality is implemented for interface demonstration only and does not store data permanently</a:t>
            </a:r>
            <a:r>
              <a:rPr lang="en-US" sz="2000" dirty="0" smtClean="0"/>
              <a:t>.</a:t>
            </a:r>
          </a:p>
          <a:p>
            <a:pPr marL="0" indent="0">
              <a:buNone/>
            </a:pPr>
            <a:r>
              <a:rPr lang="en-US" sz="3600" b="1" u="sng" dirty="0">
                <a:latin typeface="Agency FB" panose="020B0503020202020204" pitchFamily="34" charset="0"/>
              </a:rPr>
              <a:t>About and Contact Pages</a:t>
            </a:r>
          </a:p>
          <a:p>
            <a:r>
              <a:rPr lang="en-US" sz="2000" dirty="0" smtClean="0"/>
              <a:t>The</a:t>
            </a:r>
            <a:r>
              <a:rPr lang="en-US" sz="2000" b="1" dirty="0" smtClean="0"/>
              <a:t> About </a:t>
            </a:r>
            <a:r>
              <a:rPr lang="en-US" sz="2000" dirty="0" smtClean="0"/>
              <a:t>page provides information about the purpose and motivation behind the website.</a:t>
            </a:r>
          </a:p>
          <a:p>
            <a:r>
              <a:rPr lang="en-US" sz="2000" dirty="0" smtClean="0"/>
              <a:t>The </a:t>
            </a:r>
            <a:r>
              <a:rPr lang="en-US" sz="2000" b="1" dirty="0" smtClean="0"/>
              <a:t>Contact</a:t>
            </a:r>
            <a:r>
              <a:rPr lang="en-US" sz="2000" dirty="0" smtClean="0"/>
              <a:t> page allows users to view contact information or interact with a basic contact interface for feedback or queries. </a:t>
            </a:r>
            <a:endParaRPr lang="en-US" sz="2000" dirty="0"/>
          </a:p>
        </p:txBody>
      </p:sp>
    </p:spTree>
    <p:extLst>
      <p:ext uri="{BB962C8B-B14F-4D97-AF65-F5344CB8AC3E}">
        <p14:creationId xmlns:p14="http://schemas.microsoft.com/office/powerpoint/2010/main" val="2768601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flipH="1">
            <a:off x="0" y="0"/>
            <a:ext cx="45719" cy="498475"/>
          </a:xfrm>
        </p:spPr>
        <p:txBody>
          <a:bodyPr>
            <a:noAutofit/>
          </a:bodyPr>
          <a:lstStyle/>
          <a:p>
            <a:r>
              <a:rPr lang="en-US" sz="100" dirty="0" smtClean="0"/>
              <a:t>.</a:t>
            </a:r>
            <a:endParaRPr lang="en-US" sz="100" dirty="0"/>
          </a:p>
        </p:txBody>
      </p:sp>
      <p:sp>
        <p:nvSpPr>
          <p:cNvPr id="3" name="Content Placeholder 2"/>
          <p:cNvSpPr>
            <a:spLocks noGrp="1"/>
          </p:cNvSpPr>
          <p:nvPr>
            <p:ph idx="1"/>
          </p:nvPr>
        </p:nvSpPr>
        <p:spPr>
          <a:xfrm rot="10800000" flipV="1">
            <a:off x="838200" y="127000"/>
            <a:ext cx="10515600" cy="6049963"/>
          </a:xfrm>
        </p:spPr>
        <p:txBody>
          <a:bodyPr/>
          <a:lstStyle/>
          <a:p>
            <a:pPr marL="0" indent="0">
              <a:buNone/>
            </a:pPr>
            <a:endParaRPr lang="en-US" sz="2000" dirty="0"/>
          </a:p>
          <a:p>
            <a:pPr marL="0" indent="0">
              <a:buNone/>
            </a:pPr>
            <a:r>
              <a:rPr lang="en-US" sz="3600" b="1" u="sng" dirty="0" smtClean="0">
                <a:latin typeface="Agency FB" panose="020B0503020202020204" pitchFamily="34" charset="0"/>
              </a:rPr>
              <a:t>Intended Users</a:t>
            </a:r>
          </a:p>
          <a:p>
            <a:pPr marL="0" indent="0">
              <a:buNone/>
            </a:pPr>
            <a:r>
              <a:rPr lang="en-US" sz="2000" dirty="0"/>
              <a:t>The website is suitable for:</a:t>
            </a:r>
          </a:p>
          <a:p>
            <a:r>
              <a:rPr lang="en-US" sz="2000" dirty="0"/>
              <a:t>Students seeking educational information</a:t>
            </a:r>
          </a:p>
          <a:p>
            <a:r>
              <a:rPr lang="en-US" sz="2000" dirty="0"/>
              <a:t>Tourists planning visits to national parks</a:t>
            </a:r>
          </a:p>
          <a:p>
            <a:r>
              <a:rPr lang="en-US" sz="2000" dirty="0"/>
              <a:t>Nature and wildlife enthusiasts</a:t>
            </a:r>
          </a:p>
          <a:p>
            <a:r>
              <a:rPr lang="en-US" sz="2000" dirty="0"/>
              <a:t>General users interested in Pakistan’s natural heritage</a:t>
            </a:r>
          </a:p>
          <a:p>
            <a:pPr marL="0" indent="0">
              <a:buNone/>
            </a:pPr>
            <a:r>
              <a:rPr lang="en-US" sz="3600" b="1" u="sng" dirty="0" smtClean="0">
                <a:latin typeface="Agency FB" panose="020B0503020202020204" pitchFamily="34" charset="0"/>
              </a:rPr>
              <a:t>Conclusion</a:t>
            </a:r>
          </a:p>
          <a:p>
            <a:pPr marL="0" indent="0">
              <a:buNone/>
            </a:pPr>
            <a:r>
              <a:rPr lang="en-US" sz="2000" dirty="0"/>
              <a:t>The </a:t>
            </a:r>
            <a:r>
              <a:rPr lang="en-US" sz="2000" i="1" dirty="0"/>
              <a:t>National Parks of Pakistan</a:t>
            </a:r>
            <a:r>
              <a:rPr lang="en-US" sz="2000" dirty="0"/>
              <a:t> web portal offers users an informative and interactive platform to explore national parks while experiencing basic user interaction features. By combining structured content, visual elements, and JavaScript functionality, the website provides a smooth and engaging user experience.</a:t>
            </a:r>
            <a:endParaRPr lang="en-US" sz="2000" dirty="0"/>
          </a:p>
        </p:txBody>
      </p:sp>
    </p:spTree>
    <p:extLst>
      <p:ext uri="{BB962C8B-B14F-4D97-AF65-F5344CB8AC3E}">
        <p14:creationId xmlns:p14="http://schemas.microsoft.com/office/powerpoint/2010/main" val="168922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3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68300" cy="549275"/>
          </a:xfrm>
        </p:spPr>
        <p:txBody>
          <a:bodyPr>
            <a:normAutofit/>
          </a:bodyPr>
          <a:lstStyle/>
          <a:p>
            <a:r>
              <a:rPr lang="en-US" sz="100" dirty="0" smtClean="0"/>
              <a:t>.</a:t>
            </a:r>
            <a:endParaRPr lang="en-US" dirty="0"/>
          </a:p>
        </p:txBody>
      </p:sp>
      <p:sp>
        <p:nvSpPr>
          <p:cNvPr id="3" name="Content Placeholder 2"/>
          <p:cNvSpPr>
            <a:spLocks noGrp="1"/>
          </p:cNvSpPr>
          <p:nvPr>
            <p:ph idx="1"/>
          </p:nvPr>
        </p:nvSpPr>
        <p:spPr>
          <a:xfrm>
            <a:off x="838200" y="1825625"/>
            <a:ext cx="45719" cy="66675"/>
          </a:xfrm>
        </p:spPr>
        <p:txBody>
          <a:bodyPr>
            <a:normAutofit fontScale="25000" lnSpcReduction="20000"/>
          </a:bodyPr>
          <a:lstStyle/>
          <a:p>
            <a:pPr marL="0" indent="0">
              <a:buNone/>
            </a:pPr>
            <a:r>
              <a:rPr lang="en-US" dirty="0" smtClean="0"/>
              <a:t>/</a:t>
            </a:r>
            <a:endParaRPr lang="en-US" dirty="0"/>
          </a:p>
        </p:txBody>
      </p:sp>
      <p:sp>
        <p:nvSpPr>
          <p:cNvPr id="6" name="Rounded Rectangle 5"/>
          <p:cNvSpPr/>
          <p:nvPr/>
        </p:nvSpPr>
        <p:spPr>
          <a:xfrm>
            <a:off x="4800600" y="214312"/>
            <a:ext cx="2311400" cy="850900"/>
          </a:xfrm>
          <a:prstGeom prst="roundRect">
            <a:avLst/>
          </a:prstGeom>
          <a:solidFill>
            <a:schemeClr val="bg1"/>
          </a:solidFill>
          <a:ln>
            <a:solidFill>
              <a:schemeClr val="accent6">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dirty="0" smtClean="0">
                <a:solidFill>
                  <a:schemeClr val="accent6">
                    <a:lumMod val="50000"/>
                  </a:schemeClr>
                </a:solidFill>
                <a:latin typeface="Agency FB" panose="020B0503020202020204" pitchFamily="34" charset="0"/>
              </a:rPr>
              <a:t>Np-explorer</a:t>
            </a:r>
            <a:endParaRPr lang="en-US" dirty="0">
              <a:solidFill>
                <a:schemeClr val="accent6">
                  <a:lumMod val="50000"/>
                </a:schemeClr>
              </a:solidFill>
              <a:latin typeface="Agency FB" panose="020B0503020202020204" pitchFamily="34" charset="0"/>
            </a:endParaRPr>
          </a:p>
        </p:txBody>
      </p:sp>
      <p:cxnSp>
        <p:nvCxnSpPr>
          <p:cNvPr id="8" name="Straight Arrow Connector 7"/>
          <p:cNvCxnSpPr/>
          <p:nvPr/>
        </p:nvCxnSpPr>
        <p:spPr>
          <a:xfrm flipH="1">
            <a:off x="5949952" y="1053848"/>
            <a:ext cx="12700" cy="40640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422389" y="1419225"/>
            <a:ext cx="0" cy="40640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419093" y="1767359"/>
            <a:ext cx="1930399" cy="5969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lumMod val="50000"/>
                  </a:schemeClr>
                </a:solidFill>
              </a:rPr>
              <a:t>H</a:t>
            </a:r>
            <a:r>
              <a:rPr lang="en-US" sz="2400" dirty="0" smtClean="0">
                <a:solidFill>
                  <a:schemeClr val="accent6">
                    <a:lumMod val="50000"/>
                  </a:schemeClr>
                </a:solidFill>
              </a:rPr>
              <a:t>ome</a:t>
            </a:r>
            <a:endParaRPr lang="en-US" dirty="0">
              <a:solidFill>
                <a:schemeClr val="accent6">
                  <a:lumMod val="50000"/>
                </a:schemeClr>
              </a:solidFill>
            </a:endParaRPr>
          </a:p>
        </p:txBody>
      </p:sp>
      <p:cxnSp>
        <p:nvCxnSpPr>
          <p:cNvPr id="15" name="Straight Connector 14"/>
          <p:cNvCxnSpPr/>
          <p:nvPr/>
        </p:nvCxnSpPr>
        <p:spPr>
          <a:xfrm flipH="1">
            <a:off x="1414768" y="1400145"/>
            <a:ext cx="9867900" cy="2548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930641" y="1425626"/>
            <a:ext cx="12700" cy="438178"/>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3067041" y="1840384"/>
            <a:ext cx="1727200" cy="59690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accent6">
                    <a:lumMod val="50000"/>
                  </a:schemeClr>
                </a:solidFill>
              </a:rPr>
              <a:t>E</a:t>
            </a:r>
            <a:r>
              <a:rPr lang="en-US" sz="2400" dirty="0" smtClean="0">
                <a:solidFill>
                  <a:schemeClr val="accent6">
                    <a:lumMod val="50000"/>
                  </a:schemeClr>
                </a:solidFill>
              </a:rPr>
              <a:t>vents</a:t>
            </a:r>
            <a:endParaRPr lang="en-US" dirty="0">
              <a:solidFill>
                <a:schemeClr val="accent6">
                  <a:lumMod val="50000"/>
                </a:schemeClr>
              </a:solidFill>
            </a:endParaRPr>
          </a:p>
        </p:txBody>
      </p:sp>
      <p:cxnSp>
        <p:nvCxnSpPr>
          <p:cNvPr id="22" name="Straight Arrow Connector 21"/>
          <p:cNvCxnSpPr/>
          <p:nvPr/>
        </p:nvCxnSpPr>
        <p:spPr>
          <a:xfrm>
            <a:off x="5949952" y="1460248"/>
            <a:ext cx="0" cy="409893"/>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5334011" y="1867843"/>
            <a:ext cx="1460500" cy="59690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lumMod val="50000"/>
                  </a:schemeClr>
                </a:solidFill>
              </a:rPr>
              <a:t>P</a:t>
            </a:r>
            <a:r>
              <a:rPr lang="en-US" sz="2400" dirty="0" smtClean="0">
                <a:solidFill>
                  <a:schemeClr val="accent6">
                    <a:lumMod val="50000"/>
                  </a:schemeClr>
                </a:solidFill>
              </a:rPr>
              <a:t>arks</a:t>
            </a:r>
            <a:endParaRPr lang="en-US" dirty="0">
              <a:solidFill>
                <a:schemeClr val="accent6">
                  <a:lumMod val="50000"/>
                </a:schemeClr>
              </a:solidFill>
            </a:endParaRPr>
          </a:p>
        </p:txBody>
      </p:sp>
      <p:sp>
        <p:nvSpPr>
          <p:cNvPr id="25" name="Rounded Rectangle 24"/>
          <p:cNvSpPr/>
          <p:nvPr/>
        </p:nvSpPr>
        <p:spPr>
          <a:xfrm>
            <a:off x="7639047" y="1827684"/>
            <a:ext cx="1727200" cy="59690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accent6">
                    <a:lumMod val="50000"/>
                  </a:schemeClr>
                </a:solidFill>
              </a:rPr>
              <a:t>About</a:t>
            </a:r>
            <a:endParaRPr lang="en-US" dirty="0">
              <a:solidFill>
                <a:schemeClr val="accent6">
                  <a:lumMod val="50000"/>
                </a:schemeClr>
              </a:solidFill>
            </a:endParaRPr>
          </a:p>
        </p:txBody>
      </p:sp>
      <p:cxnSp>
        <p:nvCxnSpPr>
          <p:cNvPr id="26" name="Straight Arrow Connector 25"/>
          <p:cNvCxnSpPr/>
          <p:nvPr/>
        </p:nvCxnSpPr>
        <p:spPr>
          <a:xfrm flipH="1">
            <a:off x="8521700" y="1425626"/>
            <a:ext cx="14282" cy="433336"/>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0236209" y="1814984"/>
            <a:ext cx="1727200" cy="62230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lumMod val="50000"/>
                  </a:schemeClr>
                </a:solidFill>
              </a:rPr>
              <a:t>C</a:t>
            </a:r>
            <a:r>
              <a:rPr lang="en-US" sz="2400" dirty="0" smtClean="0">
                <a:solidFill>
                  <a:schemeClr val="accent6">
                    <a:lumMod val="50000"/>
                  </a:schemeClr>
                </a:solidFill>
              </a:rPr>
              <a:t>ontac</a:t>
            </a:r>
            <a:r>
              <a:rPr lang="en-US" sz="2400" dirty="0" smtClean="0">
                <a:solidFill>
                  <a:schemeClr val="accent6">
                    <a:lumMod val="50000"/>
                  </a:schemeClr>
                </a:solidFill>
              </a:rPr>
              <a:t>t</a:t>
            </a:r>
            <a:endParaRPr lang="en-US" dirty="0">
              <a:solidFill>
                <a:schemeClr val="accent6">
                  <a:lumMod val="50000"/>
                </a:schemeClr>
              </a:solidFill>
            </a:endParaRPr>
          </a:p>
        </p:txBody>
      </p:sp>
      <p:cxnSp>
        <p:nvCxnSpPr>
          <p:cNvPr id="30" name="Straight Arrow Connector 29"/>
          <p:cNvCxnSpPr/>
          <p:nvPr/>
        </p:nvCxnSpPr>
        <p:spPr>
          <a:xfrm>
            <a:off x="11282668" y="1412885"/>
            <a:ext cx="0" cy="375761"/>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3" idx="2"/>
          </p:cNvCxnSpPr>
          <p:nvPr/>
        </p:nvCxnSpPr>
        <p:spPr>
          <a:xfrm flipH="1">
            <a:off x="1384285" y="2364259"/>
            <a:ext cx="8" cy="251778"/>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617217" y="2576353"/>
            <a:ext cx="1554481" cy="68580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accent6">
                    <a:lumMod val="50000"/>
                  </a:schemeClr>
                </a:solidFill>
              </a:rPr>
              <a:t>Carousel of national parks</a:t>
            </a:r>
            <a:endParaRPr lang="en-US" sz="1600" dirty="0">
              <a:solidFill>
                <a:schemeClr val="accent6">
                  <a:lumMod val="50000"/>
                </a:schemeClr>
              </a:solidFill>
            </a:endParaRPr>
          </a:p>
        </p:txBody>
      </p:sp>
      <p:cxnSp>
        <p:nvCxnSpPr>
          <p:cNvPr id="38" name="Straight Arrow Connector 37"/>
          <p:cNvCxnSpPr/>
          <p:nvPr/>
        </p:nvCxnSpPr>
        <p:spPr>
          <a:xfrm flipH="1">
            <a:off x="1384285" y="3269781"/>
            <a:ext cx="1" cy="38544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Rounded Rectangle 39"/>
          <p:cNvSpPr/>
          <p:nvPr/>
        </p:nvSpPr>
        <p:spPr>
          <a:xfrm>
            <a:off x="507998" y="3632047"/>
            <a:ext cx="1663700" cy="66040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Top national parks</a:t>
            </a:r>
            <a:endParaRPr lang="en-US" dirty="0">
              <a:solidFill>
                <a:schemeClr val="accent6">
                  <a:lumMod val="50000"/>
                </a:schemeClr>
              </a:solidFill>
            </a:endParaRPr>
          </a:p>
        </p:txBody>
      </p:sp>
      <p:cxnSp>
        <p:nvCxnSpPr>
          <p:cNvPr id="41" name="Straight Arrow Connector 40"/>
          <p:cNvCxnSpPr/>
          <p:nvPr/>
        </p:nvCxnSpPr>
        <p:spPr>
          <a:xfrm flipH="1">
            <a:off x="1384283" y="4278567"/>
            <a:ext cx="1" cy="38544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Rounded Rectangle 41"/>
          <p:cNvSpPr/>
          <p:nvPr/>
        </p:nvSpPr>
        <p:spPr>
          <a:xfrm>
            <a:off x="595628" y="4669614"/>
            <a:ext cx="1663700" cy="66040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Things to see and do</a:t>
            </a:r>
            <a:endParaRPr lang="en-US" dirty="0">
              <a:solidFill>
                <a:schemeClr val="accent6">
                  <a:lumMod val="50000"/>
                </a:schemeClr>
              </a:solidFill>
            </a:endParaRPr>
          </a:p>
        </p:txBody>
      </p:sp>
      <p:cxnSp>
        <p:nvCxnSpPr>
          <p:cNvPr id="45" name="Straight Arrow Connector 44"/>
          <p:cNvCxnSpPr>
            <a:stCxn id="42" idx="2"/>
          </p:cNvCxnSpPr>
          <p:nvPr/>
        </p:nvCxnSpPr>
        <p:spPr>
          <a:xfrm>
            <a:off x="1427478" y="5330014"/>
            <a:ext cx="0" cy="34575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a:xfrm>
            <a:off x="606410" y="5686974"/>
            <a:ext cx="1555749" cy="477198"/>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conservation</a:t>
            </a:r>
            <a:endParaRPr lang="en-US" dirty="0">
              <a:solidFill>
                <a:schemeClr val="accent6">
                  <a:lumMod val="50000"/>
                </a:schemeClr>
              </a:solidFill>
            </a:endParaRPr>
          </a:p>
        </p:txBody>
      </p:sp>
      <p:cxnSp>
        <p:nvCxnSpPr>
          <p:cNvPr id="48" name="Straight Connector 47"/>
          <p:cNvCxnSpPr>
            <a:stCxn id="46" idx="2"/>
          </p:cNvCxnSpPr>
          <p:nvPr/>
        </p:nvCxnSpPr>
        <p:spPr>
          <a:xfrm flipH="1">
            <a:off x="1384284" y="6164172"/>
            <a:ext cx="1" cy="324798"/>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360808" y="6488970"/>
            <a:ext cx="3300092" cy="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51" name="Rounded Rectangle 50"/>
          <p:cNvSpPr/>
          <p:nvPr/>
        </p:nvSpPr>
        <p:spPr>
          <a:xfrm>
            <a:off x="4684376" y="6326571"/>
            <a:ext cx="1308100" cy="324798"/>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footer</a:t>
            </a:r>
            <a:endParaRPr lang="en-US" dirty="0">
              <a:solidFill>
                <a:schemeClr val="accent6">
                  <a:lumMod val="50000"/>
                </a:schemeClr>
              </a:solidFill>
            </a:endParaRPr>
          </a:p>
        </p:txBody>
      </p:sp>
      <p:cxnSp>
        <p:nvCxnSpPr>
          <p:cNvPr id="5" name="Straight Arrow Connector 4"/>
          <p:cNvCxnSpPr/>
          <p:nvPr/>
        </p:nvCxnSpPr>
        <p:spPr>
          <a:xfrm flipH="1">
            <a:off x="3943341" y="2424584"/>
            <a:ext cx="2" cy="363061"/>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3111491" y="2762082"/>
            <a:ext cx="1663700" cy="68580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Carousel</a:t>
            </a:r>
            <a:r>
              <a:rPr lang="en-US" dirty="0" smtClean="0"/>
              <a:t> </a:t>
            </a:r>
            <a:r>
              <a:rPr lang="en-US" dirty="0" smtClean="0">
                <a:solidFill>
                  <a:schemeClr val="accent6">
                    <a:lumMod val="50000"/>
                  </a:schemeClr>
                </a:solidFill>
              </a:rPr>
              <a:t>of</a:t>
            </a:r>
            <a:r>
              <a:rPr lang="en-US" dirty="0" smtClean="0"/>
              <a:t> </a:t>
            </a:r>
            <a:r>
              <a:rPr lang="en-US" dirty="0" smtClean="0">
                <a:solidFill>
                  <a:schemeClr val="accent6">
                    <a:lumMod val="50000"/>
                  </a:schemeClr>
                </a:solidFill>
              </a:rPr>
              <a:t>events</a:t>
            </a:r>
            <a:endParaRPr lang="en-US" dirty="0">
              <a:solidFill>
                <a:schemeClr val="accent6">
                  <a:lumMod val="50000"/>
                </a:schemeClr>
              </a:solidFill>
            </a:endParaRPr>
          </a:p>
        </p:txBody>
      </p:sp>
      <p:cxnSp>
        <p:nvCxnSpPr>
          <p:cNvPr id="16" name="Straight Arrow Connector 15"/>
          <p:cNvCxnSpPr>
            <a:stCxn id="11" idx="2"/>
          </p:cNvCxnSpPr>
          <p:nvPr/>
        </p:nvCxnSpPr>
        <p:spPr>
          <a:xfrm flipH="1">
            <a:off x="3936991" y="3447882"/>
            <a:ext cx="6350" cy="521925"/>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a:off x="3098791" y="3944276"/>
            <a:ext cx="1676400" cy="694204"/>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Religious</a:t>
            </a:r>
            <a:r>
              <a:rPr lang="en-US" dirty="0" smtClean="0"/>
              <a:t> </a:t>
            </a:r>
            <a:r>
              <a:rPr lang="en-US" dirty="0" smtClean="0">
                <a:solidFill>
                  <a:schemeClr val="accent6">
                    <a:lumMod val="50000"/>
                  </a:schemeClr>
                </a:solidFill>
              </a:rPr>
              <a:t>events</a:t>
            </a:r>
            <a:endParaRPr lang="en-US" dirty="0">
              <a:solidFill>
                <a:schemeClr val="accent6">
                  <a:lumMod val="50000"/>
                </a:schemeClr>
              </a:solidFill>
            </a:endParaRPr>
          </a:p>
        </p:txBody>
      </p:sp>
      <p:cxnSp>
        <p:nvCxnSpPr>
          <p:cNvPr id="24" name="Straight Connector 23"/>
          <p:cNvCxnSpPr>
            <a:stCxn id="20" idx="2"/>
          </p:cNvCxnSpPr>
          <p:nvPr/>
        </p:nvCxnSpPr>
        <p:spPr>
          <a:xfrm>
            <a:off x="3936991" y="4638480"/>
            <a:ext cx="6350" cy="1287093"/>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973835" y="5925573"/>
            <a:ext cx="941065" cy="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4934573" y="5925573"/>
            <a:ext cx="7606" cy="400998"/>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5969004" y="2490148"/>
            <a:ext cx="0" cy="429105"/>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Rounded Rectangle 46"/>
          <p:cNvSpPr/>
          <p:nvPr/>
        </p:nvSpPr>
        <p:spPr>
          <a:xfrm>
            <a:off x="5219711" y="2884885"/>
            <a:ext cx="1689100" cy="959018"/>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Cards of parks in Pakistan </a:t>
            </a:r>
            <a:endParaRPr lang="en-US" dirty="0">
              <a:solidFill>
                <a:schemeClr val="accent6">
                  <a:lumMod val="50000"/>
                </a:schemeClr>
              </a:solidFill>
            </a:endParaRPr>
          </a:p>
        </p:txBody>
      </p:sp>
      <p:cxnSp>
        <p:nvCxnSpPr>
          <p:cNvPr id="52" name="Straight Connector 51"/>
          <p:cNvCxnSpPr/>
          <p:nvPr/>
        </p:nvCxnSpPr>
        <p:spPr>
          <a:xfrm>
            <a:off x="5992476" y="3843903"/>
            <a:ext cx="0" cy="208167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H="1">
            <a:off x="5427315" y="5925573"/>
            <a:ext cx="565161" cy="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5427315" y="5925573"/>
            <a:ext cx="0" cy="400998"/>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25" idx="2"/>
          </p:cNvCxnSpPr>
          <p:nvPr/>
        </p:nvCxnSpPr>
        <p:spPr>
          <a:xfrm>
            <a:off x="8502647" y="2424584"/>
            <a:ext cx="0" cy="494669"/>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Rounded Rectangle 58"/>
          <p:cNvSpPr/>
          <p:nvPr/>
        </p:nvSpPr>
        <p:spPr>
          <a:xfrm>
            <a:off x="7658104" y="2864754"/>
            <a:ext cx="1701800" cy="698944"/>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About</a:t>
            </a:r>
            <a:r>
              <a:rPr lang="en-US" dirty="0" smtClean="0"/>
              <a:t> </a:t>
            </a:r>
            <a:r>
              <a:rPr lang="en-US" dirty="0" smtClean="0">
                <a:solidFill>
                  <a:schemeClr val="accent6">
                    <a:lumMod val="50000"/>
                  </a:schemeClr>
                </a:solidFill>
              </a:rPr>
              <a:t>us</a:t>
            </a:r>
            <a:r>
              <a:rPr lang="en-US" dirty="0" smtClean="0"/>
              <a:t> </a:t>
            </a:r>
            <a:endParaRPr lang="en-US" dirty="0"/>
          </a:p>
        </p:txBody>
      </p:sp>
      <p:cxnSp>
        <p:nvCxnSpPr>
          <p:cNvPr id="61" name="Straight Arrow Connector 60"/>
          <p:cNvCxnSpPr>
            <a:stCxn id="59" idx="2"/>
          </p:cNvCxnSpPr>
          <p:nvPr/>
        </p:nvCxnSpPr>
        <p:spPr>
          <a:xfrm flipH="1">
            <a:off x="8502647" y="3563698"/>
            <a:ext cx="6357" cy="44017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Rounded Rectangle 61"/>
          <p:cNvSpPr/>
          <p:nvPr/>
        </p:nvSpPr>
        <p:spPr>
          <a:xfrm rot="10800000" flipH="1" flipV="1">
            <a:off x="7639047" y="4003868"/>
            <a:ext cx="1793871" cy="613792"/>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Feedback</a:t>
            </a:r>
            <a:r>
              <a:rPr lang="en-US" dirty="0" smtClean="0"/>
              <a:t> </a:t>
            </a:r>
            <a:r>
              <a:rPr lang="en-US" dirty="0" smtClean="0">
                <a:solidFill>
                  <a:schemeClr val="accent6">
                    <a:lumMod val="50000"/>
                  </a:schemeClr>
                </a:solidFill>
              </a:rPr>
              <a:t>Form</a:t>
            </a:r>
            <a:endParaRPr lang="en-US" dirty="0">
              <a:solidFill>
                <a:schemeClr val="accent6">
                  <a:lumMod val="50000"/>
                </a:schemeClr>
              </a:solidFill>
            </a:endParaRPr>
          </a:p>
        </p:txBody>
      </p:sp>
      <p:cxnSp>
        <p:nvCxnSpPr>
          <p:cNvPr id="68" name="Straight Connector 67"/>
          <p:cNvCxnSpPr>
            <a:stCxn id="62" idx="2"/>
          </p:cNvCxnSpPr>
          <p:nvPr/>
        </p:nvCxnSpPr>
        <p:spPr>
          <a:xfrm flipH="1">
            <a:off x="8502647" y="4617660"/>
            <a:ext cx="33336" cy="1871310"/>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51" idx="3"/>
          </p:cNvCxnSpPr>
          <p:nvPr/>
        </p:nvCxnSpPr>
        <p:spPr>
          <a:xfrm flipH="1">
            <a:off x="5992476" y="6488970"/>
            <a:ext cx="2499992" cy="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11282668" y="2424584"/>
            <a:ext cx="0" cy="680398"/>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4" name="Rounded Rectangle 73"/>
          <p:cNvSpPr/>
          <p:nvPr/>
        </p:nvSpPr>
        <p:spPr>
          <a:xfrm>
            <a:off x="10642600" y="3104982"/>
            <a:ext cx="1320809" cy="678801"/>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Contact</a:t>
            </a:r>
            <a:r>
              <a:rPr lang="en-US" dirty="0" smtClean="0"/>
              <a:t> </a:t>
            </a:r>
            <a:r>
              <a:rPr lang="en-US" dirty="0" smtClean="0">
                <a:solidFill>
                  <a:schemeClr val="accent6">
                    <a:lumMod val="50000"/>
                  </a:schemeClr>
                </a:solidFill>
              </a:rPr>
              <a:t>form</a:t>
            </a:r>
            <a:endParaRPr lang="en-US" dirty="0">
              <a:solidFill>
                <a:schemeClr val="accent6">
                  <a:lumMod val="50000"/>
                </a:schemeClr>
              </a:solidFill>
            </a:endParaRPr>
          </a:p>
        </p:txBody>
      </p:sp>
      <p:cxnSp>
        <p:nvCxnSpPr>
          <p:cNvPr id="76" name="Straight Arrow Connector 75"/>
          <p:cNvCxnSpPr>
            <a:stCxn id="74" idx="2"/>
          </p:cNvCxnSpPr>
          <p:nvPr/>
        </p:nvCxnSpPr>
        <p:spPr>
          <a:xfrm flipH="1">
            <a:off x="11282668" y="3783783"/>
            <a:ext cx="20337" cy="526981"/>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Rounded Rectangle 76"/>
          <p:cNvSpPr/>
          <p:nvPr/>
        </p:nvSpPr>
        <p:spPr>
          <a:xfrm>
            <a:off x="10642600" y="4291378"/>
            <a:ext cx="1300488" cy="593360"/>
          </a:xfrm>
          <a:prstGeom prst="roundRect">
            <a:avLst/>
          </a:prstGeom>
          <a:solidFill>
            <a:schemeClr val="bg1"/>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accent6">
                    <a:lumMod val="50000"/>
                  </a:schemeClr>
                </a:solidFill>
              </a:rPr>
              <a:t>Contact</a:t>
            </a:r>
            <a:r>
              <a:rPr lang="en-US" dirty="0" smtClean="0"/>
              <a:t> </a:t>
            </a:r>
            <a:r>
              <a:rPr lang="en-US" dirty="0" smtClean="0">
                <a:solidFill>
                  <a:schemeClr val="accent6">
                    <a:lumMod val="50000"/>
                  </a:schemeClr>
                </a:solidFill>
              </a:rPr>
              <a:t>info</a:t>
            </a:r>
            <a:endParaRPr lang="en-US" dirty="0">
              <a:solidFill>
                <a:schemeClr val="accent6">
                  <a:lumMod val="50000"/>
                </a:schemeClr>
              </a:solidFill>
            </a:endParaRPr>
          </a:p>
        </p:txBody>
      </p:sp>
      <p:cxnSp>
        <p:nvCxnSpPr>
          <p:cNvPr id="79" name="Straight Connector 78"/>
          <p:cNvCxnSpPr>
            <a:stCxn id="77" idx="2"/>
          </p:cNvCxnSpPr>
          <p:nvPr/>
        </p:nvCxnSpPr>
        <p:spPr>
          <a:xfrm flipH="1">
            <a:off x="11282668" y="4884738"/>
            <a:ext cx="10176" cy="1766631"/>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a:off x="6064261" y="6651369"/>
            <a:ext cx="5228575" cy="0"/>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428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685</Words>
  <Application>Microsoft Office PowerPoint</Application>
  <PresentationFormat>Widescreen</PresentationFormat>
  <Paragraphs>89</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Agency FB</vt:lpstr>
      <vt:lpstr>Algerian</vt:lpstr>
      <vt:lpstr>Arial</vt:lpstr>
      <vt:lpstr>Arial Narrow</vt:lpstr>
      <vt:lpstr>Brush Script MT</vt:lpstr>
      <vt:lpstr>Calibri</vt:lpstr>
      <vt:lpstr>Calibri Light</vt:lpstr>
      <vt:lpstr>Office Theme</vt:lpstr>
      <vt:lpstr>User  Guide</vt:lpstr>
      <vt:lpstr>.</vt:lpstr>
      <vt:lpstr>.</vt:lpstr>
      <vt:lpstr>.</vt:lpstr>
      <vt:lpstr>.</vt:lpstr>
      <vt:lpstr>.</vt:lpstr>
      <vt:lpstr>.</vt:lpstr>
      <vt:lpstr>.</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 MAP</dc:title>
  <dc:creator>Admin</dc:creator>
  <cp:lastModifiedBy>Admin</cp:lastModifiedBy>
  <cp:revision>16</cp:revision>
  <dcterms:created xsi:type="dcterms:W3CDTF">2026-01-08T15:56:34Z</dcterms:created>
  <dcterms:modified xsi:type="dcterms:W3CDTF">2026-01-10T07:06:57Z</dcterms:modified>
</cp:coreProperties>
</file>